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9" autoAdjust="0"/>
    <p:restoredTop sz="94660"/>
  </p:normalViewPr>
  <p:slideViewPr>
    <p:cSldViewPr snapToGrid="0">
      <p:cViewPr varScale="1">
        <p:scale>
          <a:sx n="96" d="100"/>
          <a:sy n="96" d="100"/>
        </p:scale>
        <p:origin x="50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p:cNvSpPr>
            <a:spLocks noGrp="1"/>
          </p:cNvSpPr>
          <p:nvPr>
            <p:ph type="dt" sz="half" idx="10"/>
          </p:nvPr>
        </p:nvSpPr>
        <p:spPr/>
        <p:txBody>
          <a:bodyPr/>
          <a:lstStyle/>
          <a:p>
            <a:fld id="{D2A44EA5-7166-47F9-A7D9-1CD33CE08192}" type="datetimeFigureOut">
              <a:rPr lang="en-US" smtClean="0"/>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F27ABCE1-67D7-46B3-9659-460598170027}"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日期占位符 3"/>
          <p:cNvSpPr>
            <a:spLocks noGrp="1"/>
          </p:cNvSpPr>
          <p:nvPr>
            <p:ph type="dt" sz="half" idx="10"/>
          </p:nvPr>
        </p:nvSpPr>
        <p:spPr/>
        <p:txBody>
          <a:bodyPr/>
          <a:lstStyle/>
          <a:p>
            <a:fld id="{D2A44EA5-7166-47F9-A7D9-1CD33CE08192}" type="datetimeFigureOut">
              <a:rPr lang="en-US" smtClean="0"/>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F27ABCE1-67D7-46B3-9659-460598170027}"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2A44EA5-7166-47F9-A7D9-1CD33CE08192}" type="datetimeFigureOut">
              <a:rPr lang="en-US" smtClean="0"/>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F27ABCE1-67D7-46B3-9659-460598170027}"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日期占位符 4"/>
          <p:cNvSpPr>
            <a:spLocks noGrp="1"/>
          </p:cNvSpPr>
          <p:nvPr>
            <p:ph type="dt" sz="half" idx="10"/>
          </p:nvPr>
        </p:nvSpPr>
        <p:spPr/>
        <p:txBody>
          <a:bodyPr/>
          <a:lstStyle/>
          <a:p>
            <a:fld id="{D2A44EA5-7166-47F9-A7D9-1CD33CE08192}" type="datetimeFigureOut">
              <a:rPr lang="en-US" smtClean="0"/>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F27ABCE1-67D7-46B3-9659-460598170027}"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7" name="日期占位符 6"/>
          <p:cNvSpPr>
            <a:spLocks noGrp="1"/>
          </p:cNvSpPr>
          <p:nvPr>
            <p:ph type="dt" sz="half" idx="10"/>
          </p:nvPr>
        </p:nvSpPr>
        <p:spPr/>
        <p:txBody>
          <a:bodyPr/>
          <a:lstStyle/>
          <a:p>
            <a:fld id="{D2A44EA5-7166-47F9-A7D9-1CD33CE08192}" type="datetimeFigureOut">
              <a:rPr lang="en-US" smtClean="0"/>
            </a:fld>
            <a:endParaRPr lang="en-US"/>
          </a:p>
        </p:txBody>
      </p:sp>
      <p:sp>
        <p:nvSpPr>
          <p:cNvPr id="8" name="页脚占位符 7"/>
          <p:cNvSpPr>
            <a:spLocks noGrp="1"/>
          </p:cNvSpPr>
          <p:nvPr>
            <p:ph type="ftr" sz="quarter" idx="11"/>
          </p:nvPr>
        </p:nvSpPr>
        <p:spPr/>
        <p:txBody>
          <a:bodyPr/>
          <a:lstStyle/>
          <a:p>
            <a:endParaRPr lang="en-US"/>
          </a:p>
        </p:txBody>
      </p:sp>
      <p:sp>
        <p:nvSpPr>
          <p:cNvPr id="9" name="灯片编号占位符 8"/>
          <p:cNvSpPr>
            <a:spLocks noGrp="1"/>
          </p:cNvSpPr>
          <p:nvPr>
            <p:ph type="sldNum" sz="quarter" idx="12"/>
          </p:nvPr>
        </p:nvSpPr>
        <p:spPr/>
        <p:txBody>
          <a:bodyPr/>
          <a:lstStyle/>
          <a:p>
            <a:fld id="{F27ABCE1-67D7-46B3-9659-460598170027}"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日期占位符 2"/>
          <p:cNvSpPr>
            <a:spLocks noGrp="1"/>
          </p:cNvSpPr>
          <p:nvPr>
            <p:ph type="dt" sz="half" idx="10"/>
          </p:nvPr>
        </p:nvSpPr>
        <p:spPr/>
        <p:txBody>
          <a:bodyPr/>
          <a:lstStyle/>
          <a:p>
            <a:fld id="{D2A44EA5-7166-47F9-A7D9-1CD33CE08192}" type="datetimeFigureOut">
              <a:rPr lang="en-US" smtClean="0"/>
            </a:fld>
            <a:endParaRPr lang="en-US"/>
          </a:p>
        </p:txBody>
      </p:sp>
      <p:sp>
        <p:nvSpPr>
          <p:cNvPr id="4" name="页脚占位符 3"/>
          <p:cNvSpPr>
            <a:spLocks noGrp="1"/>
          </p:cNvSpPr>
          <p:nvPr>
            <p:ph type="ftr" sz="quarter" idx="11"/>
          </p:nvPr>
        </p:nvSpPr>
        <p:spPr/>
        <p:txBody>
          <a:bodyPr/>
          <a:lstStyle/>
          <a:p>
            <a:endParaRPr lang="en-US"/>
          </a:p>
        </p:txBody>
      </p:sp>
      <p:sp>
        <p:nvSpPr>
          <p:cNvPr id="5" name="灯片编号占位符 4"/>
          <p:cNvSpPr>
            <a:spLocks noGrp="1"/>
          </p:cNvSpPr>
          <p:nvPr>
            <p:ph type="sldNum" sz="quarter" idx="12"/>
          </p:nvPr>
        </p:nvSpPr>
        <p:spPr/>
        <p:txBody>
          <a:bodyPr/>
          <a:lstStyle/>
          <a:p>
            <a:fld id="{F27ABCE1-67D7-46B3-9659-460598170027}"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2A44EA5-7166-47F9-A7D9-1CD33CE08192}" type="datetimeFigureOut">
              <a:rPr lang="en-US" smtClean="0"/>
            </a:fld>
            <a:endParaRPr lang="en-US"/>
          </a:p>
        </p:txBody>
      </p:sp>
      <p:sp>
        <p:nvSpPr>
          <p:cNvPr id="3" name="页脚占位符 2"/>
          <p:cNvSpPr>
            <a:spLocks noGrp="1"/>
          </p:cNvSpPr>
          <p:nvPr>
            <p:ph type="ftr" sz="quarter" idx="11"/>
          </p:nvPr>
        </p:nvSpPr>
        <p:spPr/>
        <p:txBody>
          <a:bodyPr/>
          <a:lstStyle/>
          <a:p>
            <a:endParaRPr lang="en-US"/>
          </a:p>
        </p:txBody>
      </p:sp>
      <p:sp>
        <p:nvSpPr>
          <p:cNvPr id="4" name="灯片编号占位符 3"/>
          <p:cNvSpPr>
            <a:spLocks noGrp="1"/>
          </p:cNvSpPr>
          <p:nvPr>
            <p:ph type="sldNum" sz="quarter" idx="12"/>
          </p:nvPr>
        </p:nvSpPr>
        <p:spPr/>
        <p:txBody>
          <a:bodyPr/>
          <a:lstStyle/>
          <a:p>
            <a:fld id="{F27ABCE1-67D7-46B3-9659-460598170027}"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2A44EA5-7166-47F9-A7D9-1CD33CE08192}" type="datetimeFigureOut">
              <a:rPr lang="en-US" smtClean="0"/>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F27ABCE1-67D7-46B3-9659-460598170027}"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2A44EA5-7166-47F9-A7D9-1CD33CE08192}" type="datetimeFigureOut">
              <a:rPr lang="en-US" smtClean="0"/>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F27ABCE1-67D7-46B3-9659-460598170027}"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日期占位符 3"/>
          <p:cNvSpPr>
            <a:spLocks noGrp="1"/>
          </p:cNvSpPr>
          <p:nvPr>
            <p:ph type="dt" sz="half" idx="10"/>
          </p:nvPr>
        </p:nvSpPr>
        <p:spPr/>
        <p:txBody>
          <a:bodyPr/>
          <a:lstStyle/>
          <a:p>
            <a:fld id="{D2A44EA5-7166-47F9-A7D9-1CD33CE08192}" type="datetimeFigureOut">
              <a:rPr lang="en-US" smtClean="0"/>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F27ABCE1-67D7-46B3-9659-460598170027}"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日期占位符 3"/>
          <p:cNvSpPr>
            <a:spLocks noGrp="1"/>
          </p:cNvSpPr>
          <p:nvPr>
            <p:ph type="dt" sz="half" idx="10"/>
          </p:nvPr>
        </p:nvSpPr>
        <p:spPr/>
        <p:txBody>
          <a:bodyPr/>
          <a:lstStyle/>
          <a:p>
            <a:fld id="{D2A44EA5-7166-47F9-A7D9-1CD33CE08192}" type="datetimeFigureOut">
              <a:rPr lang="en-US" smtClean="0"/>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F27ABCE1-67D7-46B3-9659-460598170027}"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2A44EA5-7166-47F9-A7D9-1CD33CE08192}" type="datetimeFigureOut">
              <a:rPr lang="en-US" smtClean="0"/>
            </a:fld>
            <a:endParaRPr 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27ABCE1-67D7-46B3-9659-460598170027}"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hyperlink" Target="https://github.com/eeyhsong/EEG-Conformer" TargetMode="External"/><Relationship Id="rId1" Type="http://schemas.openxmlformats.org/officeDocument/2006/relationships/hyperlink" Target="https://ieeexplore.ieee.org/abstract/document/9991178"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b="1" dirty="0"/>
              <a:t>脑机解码进度汇报</a:t>
            </a:r>
            <a:endParaRPr lang="en-US"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遗留问题</a:t>
            </a:r>
            <a:endParaRPr lang="en-US" b="1" dirty="0"/>
          </a:p>
        </p:txBody>
      </p:sp>
      <p:sp>
        <p:nvSpPr>
          <p:cNvPr id="3" name="内容占位符 2"/>
          <p:cNvSpPr>
            <a:spLocks noGrp="1"/>
          </p:cNvSpPr>
          <p:nvPr>
            <p:ph idx="1"/>
          </p:nvPr>
        </p:nvSpPr>
        <p:spPr>
          <a:xfrm>
            <a:off x="838200" y="1825625"/>
            <a:ext cx="10515600" cy="480695"/>
          </a:xfrm>
        </p:spPr>
        <p:txBody>
          <a:bodyPr/>
          <a:lstStyle/>
          <a:p>
            <a:pPr marL="0" indent="0">
              <a:buNone/>
            </a:pPr>
            <a:r>
              <a:rPr lang="en-US" altLang="zh-CN" dirty="0"/>
              <a:t>· </a:t>
            </a:r>
            <a:r>
              <a:rPr lang="zh-CN" altLang="en-US" dirty="0"/>
              <a:t>为什么使用</a:t>
            </a:r>
            <a:r>
              <a:rPr lang="en-US" altLang="zh-CN" dirty="0" err="1"/>
              <a:t>EEGNet</a:t>
            </a:r>
            <a:r>
              <a:rPr lang="zh-CN" altLang="en-US" dirty="0"/>
              <a:t>这样的小模型？</a:t>
            </a:r>
            <a:endParaRPr lang="en-US" dirty="0"/>
          </a:p>
        </p:txBody>
      </p:sp>
      <p:sp>
        <p:nvSpPr>
          <p:cNvPr id="9" name="文本框 8"/>
          <p:cNvSpPr txBox="1"/>
          <p:nvPr/>
        </p:nvSpPr>
        <p:spPr>
          <a:xfrm>
            <a:off x="838200" y="2335014"/>
            <a:ext cx="877163" cy="369332"/>
          </a:xfrm>
          <a:prstGeom prst="rect">
            <a:avLst/>
          </a:prstGeom>
          <a:noFill/>
        </p:spPr>
        <p:txBody>
          <a:bodyPr wrap="none" rtlCol="0">
            <a:spAutoFit/>
          </a:bodyPr>
          <a:lstStyle/>
          <a:p>
            <a:r>
              <a:rPr lang="zh-CN" altLang="en-US" dirty="0"/>
              <a:t>提问：</a:t>
            </a:r>
            <a:endParaRPr lang="en-US" dirty="0"/>
          </a:p>
        </p:txBody>
      </p:sp>
      <p:pic>
        <p:nvPicPr>
          <p:cNvPr id="11" name="图片 10"/>
          <p:cNvPicPr>
            <a:picLocks noChangeAspect="1"/>
          </p:cNvPicPr>
          <p:nvPr/>
        </p:nvPicPr>
        <p:blipFill>
          <a:blip r:embed="rId1"/>
          <a:stretch>
            <a:fillRect/>
          </a:stretch>
        </p:blipFill>
        <p:spPr>
          <a:xfrm>
            <a:off x="838200" y="2679295"/>
            <a:ext cx="9540510" cy="1206272"/>
          </a:xfrm>
          <a:prstGeom prst="rect">
            <a:avLst/>
          </a:prstGeom>
        </p:spPr>
      </p:pic>
      <p:sp>
        <p:nvSpPr>
          <p:cNvPr id="12" name="文本框 11"/>
          <p:cNvSpPr txBox="1"/>
          <p:nvPr/>
        </p:nvSpPr>
        <p:spPr>
          <a:xfrm>
            <a:off x="838200" y="3889210"/>
            <a:ext cx="687823" cy="369332"/>
          </a:xfrm>
          <a:prstGeom prst="rect">
            <a:avLst/>
          </a:prstGeom>
          <a:noFill/>
        </p:spPr>
        <p:txBody>
          <a:bodyPr wrap="square" rtlCol="0">
            <a:spAutoFit/>
          </a:bodyPr>
          <a:lstStyle/>
          <a:p>
            <a:r>
              <a:rPr lang="zh-CN" altLang="en-US" dirty="0"/>
              <a:t>回复：</a:t>
            </a:r>
            <a:endParaRPr lang="en-US" dirty="0"/>
          </a:p>
        </p:txBody>
      </p:sp>
      <p:pic>
        <p:nvPicPr>
          <p:cNvPr id="14" name="图片 13"/>
          <p:cNvPicPr>
            <a:picLocks noChangeAspect="1"/>
          </p:cNvPicPr>
          <p:nvPr/>
        </p:nvPicPr>
        <p:blipFill>
          <a:blip r:embed="rId2"/>
          <a:stretch>
            <a:fillRect/>
          </a:stretch>
        </p:blipFill>
        <p:spPr>
          <a:xfrm>
            <a:off x="838199" y="4270716"/>
            <a:ext cx="9495347" cy="167693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1524000" y="0"/>
            <a:ext cx="9144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问题结论与解决方向</a:t>
            </a:r>
            <a:endParaRPr lang="en-US" b="1" dirty="0"/>
          </a:p>
        </p:txBody>
      </p:sp>
      <p:sp>
        <p:nvSpPr>
          <p:cNvPr id="3" name="内容占位符 2"/>
          <p:cNvSpPr>
            <a:spLocks noGrp="1"/>
          </p:cNvSpPr>
          <p:nvPr>
            <p:ph idx="1"/>
          </p:nvPr>
        </p:nvSpPr>
        <p:spPr/>
        <p:txBody>
          <a:bodyPr/>
          <a:lstStyle/>
          <a:p>
            <a:pPr marL="0" indent="0">
              <a:buNone/>
            </a:pPr>
            <a:r>
              <a:rPr lang="en-US" altLang="zh-CN" dirty="0"/>
              <a:t>·  </a:t>
            </a:r>
            <a:r>
              <a:rPr lang="zh-CN" altLang="en-US" dirty="0"/>
              <a:t>单纯提升模型参数与深度对解码准确率的提升不大，且学习趋势相似，这说明是</a:t>
            </a:r>
            <a:r>
              <a:rPr lang="en-US" altLang="zh-CN" dirty="0"/>
              <a:t>EEG</a:t>
            </a:r>
            <a:r>
              <a:rPr lang="zh-CN" altLang="en-US" dirty="0"/>
              <a:t>的内在因素或者解码器架构使得解码准确率出现瓶颈。</a:t>
            </a:r>
            <a:endParaRPr lang="en-US" altLang="zh-CN" dirty="0"/>
          </a:p>
          <a:p>
            <a:pPr marL="0" indent="0">
              <a:buNone/>
            </a:pPr>
            <a:r>
              <a:rPr lang="en-US" altLang="zh-CN" dirty="0"/>
              <a:t>·  </a:t>
            </a:r>
            <a:r>
              <a:rPr lang="zh-CN" altLang="en-US" dirty="0"/>
              <a:t>当前使用的模型为</a:t>
            </a:r>
            <a:r>
              <a:rPr lang="en-US" altLang="zh-CN" dirty="0" err="1"/>
              <a:t>EEGNet</a:t>
            </a:r>
            <a:r>
              <a:rPr lang="zh-CN" altLang="en-US" dirty="0"/>
              <a:t>，是一个简单轻量的</a:t>
            </a:r>
            <a:r>
              <a:rPr lang="en-US" altLang="zh-CN" dirty="0"/>
              <a:t>CNN</a:t>
            </a:r>
            <a:r>
              <a:rPr lang="zh-CN" altLang="en-US" dirty="0"/>
              <a:t>模型，而</a:t>
            </a:r>
            <a:r>
              <a:rPr lang="en-US" altLang="zh-CN" dirty="0"/>
              <a:t>CNN</a:t>
            </a:r>
            <a:r>
              <a:rPr lang="zh-CN" altLang="en-US" dirty="0"/>
              <a:t>模型对像</a:t>
            </a:r>
            <a:r>
              <a:rPr lang="en-US" altLang="zh-CN" dirty="0"/>
              <a:t>EEG</a:t>
            </a:r>
            <a:r>
              <a:rPr lang="zh-CN" altLang="en-US" dirty="0"/>
              <a:t>信号这样具有时间维度的数据，在时序建模能力上不如现在的</a:t>
            </a:r>
            <a:r>
              <a:rPr lang="en-US" altLang="zh-CN" dirty="0"/>
              <a:t>Transformer</a:t>
            </a:r>
            <a:r>
              <a:rPr lang="zh-CN" altLang="en-US" dirty="0"/>
              <a:t>架构。</a:t>
            </a:r>
            <a:endParaRPr lang="en-US" altLang="zh-CN" dirty="0"/>
          </a:p>
          <a:p>
            <a:pPr marL="0" indent="0">
              <a:buNone/>
            </a:pPr>
            <a:r>
              <a:rPr lang="en-US" altLang="zh-CN" dirty="0"/>
              <a:t>·  </a:t>
            </a:r>
            <a:r>
              <a:rPr lang="zh-CN" altLang="en-US" dirty="0"/>
              <a:t>因此我尝试采用</a:t>
            </a:r>
            <a:r>
              <a:rPr lang="en-US" altLang="zh-CN" dirty="0"/>
              <a:t>Transformer</a:t>
            </a:r>
            <a:r>
              <a:rPr lang="zh-CN" altLang="en-US" dirty="0"/>
              <a:t>作为新的解码器架构测试效果</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880579"/>
          </a:xfrm>
        </p:spPr>
        <p:txBody>
          <a:bodyPr/>
          <a:lstStyle/>
          <a:p>
            <a:r>
              <a:rPr lang="en-US" altLang="zh-CN" dirty="0" err="1"/>
              <a:t>EEGConformer</a:t>
            </a:r>
            <a:endParaRPr lang="en-US" dirty="0"/>
          </a:p>
        </p:txBody>
      </p:sp>
      <p:sp>
        <p:nvSpPr>
          <p:cNvPr id="3" name="内容占位符 2"/>
          <p:cNvSpPr>
            <a:spLocks noGrp="1"/>
          </p:cNvSpPr>
          <p:nvPr>
            <p:ph idx="1"/>
          </p:nvPr>
        </p:nvSpPr>
        <p:spPr>
          <a:xfrm>
            <a:off x="838200" y="1249155"/>
            <a:ext cx="10399643" cy="1016967"/>
          </a:xfrm>
        </p:spPr>
        <p:txBody>
          <a:bodyPr>
            <a:normAutofit lnSpcReduction="10000"/>
          </a:bodyPr>
          <a:lstStyle/>
          <a:p>
            <a:r>
              <a:rPr lang="zh-CN" altLang="en-US" sz="1600" dirty="0">
                <a:hlinkClick r:id="rId1"/>
              </a:rPr>
              <a:t>论文地址：</a:t>
            </a:r>
            <a:r>
              <a:rPr lang="en-US" sz="1600" dirty="0">
                <a:hlinkClick r:id="rId1"/>
              </a:rPr>
              <a:t>EEG Conformer: Convolutional Transformer for EEG Decoding and Visualization | IEEE Journals &amp; Magazine | IEEE Xplore</a:t>
            </a:r>
            <a:endParaRPr lang="en-US" sz="1600" dirty="0"/>
          </a:p>
          <a:p>
            <a:r>
              <a:rPr lang="en-US" altLang="zh-CN" sz="1600" dirty="0" err="1"/>
              <a:t>Github</a:t>
            </a:r>
            <a:r>
              <a:rPr lang="zh-CN" altLang="en-US" sz="1600" dirty="0"/>
              <a:t>链接：</a:t>
            </a:r>
            <a:r>
              <a:rPr lang="en-US" sz="1600" dirty="0" err="1">
                <a:hlinkClick r:id="rId2"/>
              </a:rPr>
              <a:t>eeyhsong</a:t>
            </a:r>
            <a:r>
              <a:rPr lang="en-US" sz="1600" dirty="0">
                <a:hlinkClick r:id="rId2"/>
              </a:rPr>
              <a:t>/EEG-Conformer: [TNSRE 23] EEG Transformer 2.0. </a:t>
            </a:r>
            <a:r>
              <a:rPr lang="en-US" sz="1600" dirty="0" err="1">
                <a:hlinkClick r:id="rId2"/>
              </a:rPr>
              <a:t>i</a:t>
            </a:r>
            <a:r>
              <a:rPr lang="en-US" sz="1600" dirty="0">
                <a:hlinkClick r:id="rId2"/>
              </a:rPr>
              <a:t>. Convolutional Transformer for EEG Decoding. ii. Novel visualization - Class Activation Topography.</a:t>
            </a:r>
            <a:endParaRPr lang="en-US" sz="1600" dirty="0"/>
          </a:p>
        </p:txBody>
      </p:sp>
      <p:pic>
        <p:nvPicPr>
          <p:cNvPr id="5" name="图片 4"/>
          <p:cNvPicPr>
            <a:picLocks noChangeAspect="1"/>
          </p:cNvPicPr>
          <p:nvPr/>
        </p:nvPicPr>
        <p:blipFill>
          <a:blip r:embed="rId3"/>
          <a:stretch>
            <a:fillRect/>
          </a:stretch>
        </p:blipFill>
        <p:spPr>
          <a:xfrm>
            <a:off x="2120347" y="2266122"/>
            <a:ext cx="7348331" cy="2199917"/>
          </a:xfrm>
          <a:prstGeom prst="rect">
            <a:avLst/>
          </a:prstGeom>
        </p:spPr>
      </p:pic>
      <p:sp>
        <p:nvSpPr>
          <p:cNvPr id="6" name="文本框 5"/>
          <p:cNvSpPr txBox="1"/>
          <p:nvPr/>
        </p:nvSpPr>
        <p:spPr>
          <a:xfrm>
            <a:off x="1404730" y="4777409"/>
            <a:ext cx="4913140" cy="369332"/>
          </a:xfrm>
          <a:prstGeom prst="rect">
            <a:avLst/>
          </a:prstGeom>
          <a:noFill/>
        </p:spPr>
        <p:txBody>
          <a:bodyPr wrap="none" rtlCol="0">
            <a:spAutoFit/>
          </a:bodyPr>
          <a:lstStyle/>
          <a:p>
            <a:r>
              <a:rPr lang="zh-CN" altLang="en-US" dirty="0"/>
              <a:t>采用了</a:t>
            </a:r>
            <a:r>
              <a:rPr lang="en-US" altLang="zh-CN" dirty="0" err="1"/>
              <a:t>EEGConformer</a:t>
            </a:r>
            <a:r>
              <a:rPr lang="zh-CN" altLang="en-US" dirty="0"/>
              <a:t>作为新的解码器进行实验</a:t>
            </a:r>
            <a:endParaRPr lang="en-US" dirty="0"/>
          </a:p>
        </p:txBody>
      </p:sp>
      <p:sp>
        <p:nvSpPr>
          <p:cNvPr id="7" name="文本框 6"/>
          <p:cNvSpPr txBox="1"/>
          <p:nvPr/>
        </p:nvSpPr>
        <p:spPr>
          <a:xfrm>
            <a:off x="1404730" y="5143347"/>
            <a:ext cx="10535513" cy="369332"/>
          </a:xfrm>
          <a:prstGeom prst="rect">
            <a:avLst/>
          </a:prstGeom>
          <a:noFill/>
        </p:spPr>
        <p:txBody>
          <a:bodyPr wrap="none" rtlCol="0">
            <a:spAutoFit/>
          </a:bodyPr>
          <a:lstStyle/>
          <a:p>
            <a:r>
              <a:rPr lang="en-US" altLang="zh-CN" dirty="0" err="1"/>
              <a:t>EEGConformer</a:t>
            </a:r>
            <a:r>
              <a:rPr lang="zh-CN" altLang="en-US" dirty="0"/>
              <a:t>先将数据经过一个卷积层聚合多通道维度的信息，再通过</a:t>
            </a:r>
            <a:r>
              <a:rPr lang="en-US" altLang="zh-CN" dirty="0"/>
              <a:t>Transformer</a:t>
            </a:r>
            <a:r>
              <a:rPr lang="zh-CN" altLang="en-US" dirty="0"/>
              <a:t>块进行时序建模</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84922"/>
            <a:ext cx="10515600" cy="902184"/>
          </a:xfrm>
        </p:spPr>
        <p:txBody>
          <a:bodyPr/>
          <a:lstStyle/>
          <a:p>
            <a:r>
              <a:rPr lang="zh-CN" altLang="en-US" b="1" dirty="0"/>
              <a:t>我的调整</a:t>
            </a:r>
            <a:endParaRPr lang="en-US" b="1" dirty="0"/>
          </a:p>
        </p:txBody>
      </p:sp>
      <p:sp>
        <p:nvSpPr>
          <p:cNvPr id="3" name="内容占位符 2"/>
          <p:cNvSpPr>
            <a:spLocks noGrp="1"/>
          </p:cNvSpPr>
          <p:nvPr>
            <p:ph idx="1"/>
          </p:nvPr>
        </p:nvSpPr>
        <p:spPr>
          <a:xfrm>
            <a:off x="838200" y="1187106"/>
            <a:ext cx="10515600" cy="4351338"/>
          </a:xfrm>
        </p:spPr>
        <p:txBody>
          <a:bodyPr>
            <a:normAutofit fontScale="92500"/>
          </a:bodyPr>
          <a:lstStyle/>
          <a:p>
            <a:pPr marL="514350" indent="-514350">
              <a:buAutoNum type="arabicPeriod"/>
            </a:pPr>
            <a:r>
              <a:rPr lang="en-US" altLang="zh-CN" dirty="0" err="1"/>
              <a:t>EEGConformer</a:t>
            </a:r>
            <a:r>
              <a:rPr lang="zh-CN" altLang="en-US" dirty="0"/>
              <a:t>在原</a:t>
            </a:r>
            <a:r>
              <a:rPr lang="en-US" altLang="zh-CN" dirty="0" err="1"/>
              <a:t>github</a:t>
            </a:r>
            <a:r>
              <a:rPr lang="zh-CN" altLang="en-US" dirty="0"/>
              <a:t>库中是用</a:t>
            </a:r>
            <a:r>
              <a:rPr lang="en-US" altLang="zh-CN" dirty="0" err="1"/>
              <a:t>Pytorch</a:t>
            </a:r>
            <a:r>
              <a:rPr lang="zh-CN" altLang="en-US" dirty="0"/>
              <a:t>搭建的，为了适配性，我将其按原架构在我们的项目中用</a:t>
            </a:r>
            <a:r>
              <a:rPr lang="en-US" altLang="zh-CN" dirty="0"/>
              <a:t>TensorFlow</a:t>
            </a:r>
            <a:r>
              <a:rPr lang="zh-CN" altLang="en-US" dirty="0"/>
              <a:t>复现。</a:t>
            </a:r>
            <a:endParaRPr lang="en-US" altLang="zh-CN" dirty="0"/>
          </a:p>
          <a:p>
            <a:pPr marL="514350" indent="-514350">
              <a:buAutoNum type="arabicPeriod"/>
            </a:pPr>
            <a:r>
              <a:rPr lang="en-US" altLang="zh-CN" dirty="0"/>
              <a:t>Transformer</a:t>
            </a:r>
            <a:r>
              <a:rPr lang="zh-CN" altLang="en-US" dirty="0"/>
              <a:t>架构无可避免的参数量更庞大，我适当减少了</a:t>
            </a:r>
            <a:r>
              <a:rPr lang="en-US" altLang="zh-CN" dirty="0" err="1"/>
              <a:t>EEGConformer</a:t>
            </a:r>
            <a:r>
              <a:rPr lang="zh-CN" altLang="en-US" dirty="0"/>
              <a:t>的</a:t>
            </a:r>
            <a:r>
              <a:rPr lang="en-US" altLang="zh-CN" dirty="0"/>
              <a:t>Transformer Block</a:t>
            </a:r>
            <a:r>
              <a:rPr lang="zh-CN" altLang="en-US" dirty="0"/>
              <a:t>的数量。</a:t>
            </a:r>
            <a:endParaRPr lang="en-US" altLang="zh-CN" dirty="0"/>
          </a:p>
          <a:p>
            <a:pPr marL="514350" indent="-514350">
              <a:buAutoNum type="arabicPeriod"/>
            </a:pPr>
            <a:r>
              <a:rPr lang="zh-CN" altLang="en-US" dirty="0"/>
              <a:t>由于</a:t>
            </a:r>
            <a:r>
              <a:rPr lang="en-US" altLang="zh-CN" dirty="0" err="1"/>
              <a:t>EEGConformer</a:t>
            </a:r>
            <a:r>
              <a:rPr lang="zh-CN" altLang="en-US" dirty="0"/>
              <a:t>参数量更庞大，更容易过拟合数据的噪声，因此我在各个线性层添加了</a:t>
            </a:r>
            <a:r>
              <a:rPr lang="en-US" altLang="zh-CN" dirty="0"/>
              <a:t>L2</a:t>
            </a:r>
            <a:r>
              <a:rPr lang="zh-CN" altLang="en-US" dirty="0"/>
              <a:t>正则化，在卷积层添加了，</a:t>
            </a:r>
            <a:r>
              <a:rPr lang="en-US" altLang="zh-CN" dirty="0"/>
              <a:t>max-norm</a:t>
            </a:r>
            <a:r>
              <a:rPr lang="zh-CN" altLang="en-US" dirty="0"/>
              <a:t>约束，减轻模型过拟合现象。</a:t>
            </a:r>
            <a:endParaRPr lang="en-US" altLang="zh-CN" dirty="0"/>
          </a:p>
          <a:p>
            <a:pPr marL="514350" indent="-514350">
              <a:buAutoNum type="arabicPeriod"/>
            </a:pPr>
            <a:r>
              <a:rPr lang="zh-CN" altLang="en-US" dirty="0"/>
              <a:t>调整</a:t>
            </a:r>
            <a:r>
              <a:rPr lang="en-US" altLang="zh-CN" dirty="0" err="1"/>
              <a:t>windowlen</a:t>
            </a:r>
            <a:r>
              <a:rPr lang="zh-CN" altLang="en-US" dirty="0"/>
              <a:t>为</a:t>
            </a:r>
            <a:r>
              <a:rPr lang="en-US" altLang="zh-CN" dirty="0"/>
              <a:t>3</a:t>
            </a:r>
            <a:r>
              <a:rPr lang="zh-CN" altLang="en-US" dirty="0"/>
              <a:t>，使得单条数据有足够的时长，能够充分发挥</a:t>
            </a:r>
            <a:r>
              <a:rPr lang="en-US" altLang="zh-CN" dirty="0"/>
              <a:t>Transformer</a:t>
            </a:r>
            <a:r>
              <a:rPr lang="zh-CN" altLang="en-US" dirty="0"/>
              <a:t>的长时序建模能力，同时也能保证有充足的样本数量</a:t>
            </a:r>
            <a:endParaRPr lang="en-US" altLang="zh-CN" dirty="0"/>
          </a:p>
          <a:p>
            <a:pPr marL="514350" indent="-514350">
              <a:buAutoNum type="arabicPeriod"/>
            </a:pPr>
            <a:r>
              <a:rPr lang="en-US" altLang="zh-CN" dirty="0" err="1"/>
              <a:t>EEGConformer</a:t>
            </a:r>
            <a:r>
              <a:rPr lang="zh-CN" altLang="en-US" dirty="0"/>
              <a:t>在</a:t>
            </a:r>
            <a:r>
              <a:rPr lang="en-US" altLang="zh-CN" dirty="0" err="1"/>
              <a:t>Orig</a:t>
            </a:r>
            <a:r>
              <a:rPr lang="zh-CN" altLang="en-US" dirty="0"/>
              <a:t>与</a:t>
            </a:r>
            <a:r>
              <a:rPr lang="en-US" altLang="zh-CN" dirty="0"/>
              <a:t>Finetune</a:t>
            </a:r>
            <a:r>
              <a:rPr lang="zh-CN" altLang="en-US" dirty="0"/>
              <a:t>上的学习率设为</a:t>
            </a:r>
            <a:r>
              <a:rPr lang="en-US" altLang="zh-CN" dirty="0" err="1"/>
              <a:t>EEGNet</a:t>
            </a:r>
            <a:r>
              <a:rPr lang="zh-CN" altLang="en-US" dirty="0"/>
              <a:t>的十分之一</a:t>
            </a:r>
            <a:endParaRPr lang="en-US" altLang="zh-CN" dirty="0"/>
          </a:p>
          <a:p>
            <a:pPr marL="514350" indent="-514350">
              <a:buAutoNum type="arabicPeriod"/>
            </a:pPr>
            <a:endParaRPr lang="en-US" altLang="zh-C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315911"/>
          </a:xfrm>
        </p:spPr>
        <p:txBody>
          <a:bodyPr>
            <a:normAutofit fontScale="90000"/>
          </a:bodyPr>
          <a:lstStyle/>
          <a:p>
            <a:r>
              <a:rPr lang="zh-CN" altLang="en-US" dirty="0"/>
              <a:t>实验对比：</a:t>
            </a:r>
            <a:endParaRPr lang="en-US"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25155" y="1361525"/>
            <a:ext cx="5453130" cy="2520674"/>
          </a:xfrm>
          <a:prstGeom prst="rect">
            <a:avLst/>
          </a:prstGeom>
        </p:spPr>
      </p:pic>
      <p:sp>
        <p:nvSpPr>
          <p:cNvPr id="6" name="文本框 5"/>
          <p:cNvSpPr txBox="1"/>
          <p:nvPr/>
        </p:nvSpPr>
        <p:spPr>
          <a:xfrm>
            <a:off x="838200" y="821635"/>
            <a:ext cx="6642524" cy="369332"/>
          </a:xfrm>
          <a:prstGeom prst="rect">
            <a:avLst/>
          </a:prstGeom>
          <a:noFill/>
        </p:spPr>
        <p:txBody>
          <a:bodyPr wrap="none" rtlCol="0">
            <a:spAutoFit/>
          </a:bodyPr>
          <a:lstStyle/>
          <a:p>
            <a:r>
              <a:rPr lang="en-US" altLang="zh-CN" dirty="0"/>
              <a:t>S20</a:t>
            </a:r>
            <a:r>
              <a:rPr lang="zh-CN" altLang="en-US" dirty="0"/>
              <a:t>，</a:t>
            </a:r>
            <a:r>
              <a:rPr lang="en-US" altLang="zh-CN" dirty="0"/>
              <a:t>ME</a:t>
            </a:r>
            <a:r>
              <a:rPr lang="zh-CN" altLang="en-US" dirty="0"/>
              <a:t>， </a:t>
            </a:r>
            <a:r>
              <a:rPr lang="en-US" altLang="zh-CN" dirty="0"/>
              <a:t>session</a:t>
            </a:r>
            <a:r>
              <a:rPr lang="zh-CN" altLang="en-US" dirty="0"/>
              <a:t>：</a:t>
            </a:r>
            <a:r>
              <a:rPr lang="en-US" altLang="zh-CN" dirty="0"/>
              <a:t>5</a:t>
            </a:r>
            <a:r>
              <a:rPr lang="zh-CN" altLang="en-US" dirty="0"/>
              <a:t>，</a:t>
            </a:r>
            <a:r>
              <a:rPr lang="en-US" altLang="zh-CN" dirty="0" err="1"/>
              <a:t>Windowlen</a:t>
            </a:r>
            <a:r>
              <a:rPr lang="en-US" altLang="zh-CN" dirty="0"/>
              <a:t> </a:t>
            </a:r>
            <a:r>
              <a:rPr lang="zh-CN" altLang="en-US" dirty="0"/>
              <a:t>：</a:t>
            </a:r>
            <a:r>
              <a:rPr lang="en-US" altLang="zh-CN" dirty="0"/>
              <a:t>3</a:t>
            </a:r>
            <a:r>
              <a:rPr lang="zh-CN" altLang="en-US" dirty="0"/>
              <a:t>，</a:t>
            </a:r>
            <a:r>
              <a:rPr lang="en-US" altLang="zh-CN" dirty="0" err="1"/>
              <a:t>nclass</a:t>
            </a:r>
            <a:r>
              <a:rPr lang="zh-CN" altLang="en-US" dirty="0"/>
              <a:t>：</a:t>
            </a:r>
            <a:r>
              <a:rPr lang="en-US" altLang="zh-CN" dirty="0"/>
              <a:t>2</a:t>
            </a:r>
            <a:r>
              <a:rPr lang="zh-CN" altLang="en-US" dirty="0"/>
              <a:t>，其余默认</a:t>
            </a:r>
            <a:endParaRPr lang="en-US" dirty="0"/>
          </a:p>
        </p:txBody>
      </p:sp>
      <p:sp>
        <p:nvSpPr>
          <p:cNvPr id="7" name="文本框 6"/>
          <p:cNvSpPr txBox="1"/>
          <p:nvPr/>
        </p:nvSpPr>
        <p:spPr>
          <a:xfrm>
            <a:off x="4843669" y="1146899"/>
            <a:ext cx="1681486" cy="369332"/>
          </a:xfrm>
          <a:prstGeom prst="rect">
            <a:avLst/>
          </a:prstGeom>
          <a:noFill/>
        </p:spPr>
        <p:txBody>
          <a:bodyPr wrap="none" rtlCol="0">
            <a:spAutoFit/>
          </a:bodyPr>
          <a:lstStyle/>
          <a:p>
            <a:r>
              <a:rPr lang="en-US" altLang="zh-CN" dirty="0" err="1"/>
              <a:t>EEGConformer</a:t>
            </a:r>
            <a:endParaRPr lang="en-US" dirty="0"/>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7920" y="4165733"/>
            <a:ext cx="6387559" cy="2661483"/>
          </a:xfrm>
          <a:prstGeom prst="rect">
            <a:avLst/>
          </a:prstGeom>
        </p:spPr>
      </p:pic>
      <p:pic>
        <p:nvPicPr>
          <p:cNvPr id="11" name="图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70147"/>
            <a:ext cx="5585791" cy="2520674"/>
          </a:xfrm>
          <a:prstGeom prst="rect">
            <a:avLst/>
          </a:prstGeom>
        </p:spPr>
      </p:pic>
      <p:sp>
        <p:nvSpPr>
          <p:cNvPr id="12" name="文本框 11"/>
          <p:cNvSpPr txBox="1"/>
          <p:nvPr/>
        </p:nvSpPr>
        <p:spPr>
          <a:xfrm>
            <a:off x="5250157" y="3855348"/>
            <a:ext cx="963084" cy="369332"/>
          </a:xfrm>
          <a:prstGeom prst="rect">
            <a:avLst/>
          </a:prstGeom>
          <a:noFill/>
        </p:spPr>
        <p:txBody>
          <a:bodyPr wrap="none" rtlCol="0">
            <a:spAutoFit/>
          </a:bodyPr>
          <a:lstStyle/>
          <a:p>
            <a:r>
              <a:rPr lang="en-US" altLang="zh-CN" dirty="0" err="1"/>
              <a:t>EEGNet</a:t>
            </a:r>
            <a:endParaRPr lang="en-US" dirty="0"/>
          </a:p>
        </p:txBody>
      </p:sp>
      <p:sp>
        <p:nvSpPr>
          <p:cNvPr id="13" name="文本框 12"/>
          <p:cNvSpPr txBox="1"/>
          <p:nvPr/>
        </p:nvSpPr>
        <p:spPr>
          <a:xfrm>
            <a:off x="2139722" y="1331565"/>
            <a:ext cx="1151277" cy="369332"/>
          </a:xfrm>
          <a:prstGeom prst="rect">
            <a:avLst/>
          </a:prstGeom>
          <a:noFill/>
        </p:spPr>
        <p:txBody>
          <a:bodyPr wrap="none" rtlCol="0">
            <a:spAutoFit/>
          </a:bodyPr>
          <a:lstStyle/>
          <a:p>
            <a:r>
              <a:rPr lang="en-US" altLang="zh-CN" dirty="0"/>
              <a:t>Depth</a:t>
            </a:r>
            <a:r>
              <a:rPr lang="zh-CN" altLang="en-US" dirty="0"/>
              <a:t>：</a:t>
            </a:r>
            <a:r>
              <a:rPr lang="en-US" altLang="zh-CN" dirty="0"/>
              <a:t>6</a:t>
            </a:r>
            <a:endParaRPr lang="en-US" dirty="0"/>
          </a:p>
        </p:txBody>
      </p:sp>
      <p:sp>
        <p:nvSpPr>
          <p:cNvPr id="14" name="文本框 13"/>
          <p:cNvSpPr txBox="1"/>
          <p:nvPr/>
        </p:nvSpPr>
        <p:spPr>
          <a:xfrm>
            <a:off x="8626661" y="1285481"/>
            <a:ext cx="1151277" cy="369332"/>
          </a:xfrm>
          <a:prstGeom prst="rect">
            <a:avLst/>
          </a:prstGeom>
          <a:noFill/>
        </p:spPr>
        <p:txBody>
          <a:bodyPr wrap="none" rtlCol="0">
            <a:spAutoFit/>
          </a:bodyPr>
          <a:lstStyle/>
          <a:p>
            <a:r>
              <a:rPr lang="en-US" altLang="zh-CN" dirty="0"/>
              <a:t>Depth</a:t>
            </a:r>
            <a:r>
              <a:rPr lang="zh-CN" altLang="en-US" dirty="0"/>
              <a:t>：</a:t>
            </a:r>
            <a:r>
              <a:rPr lang="en-US" altLang="zh-CN" dirty="0"/>
              <a:t>2</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简单总结</a:t>
            </a:r>
            <a:endParaRPr lang="en-US" dirty="0"/>
          </a:p>
        </p:txBody>
      </p:sp>
      <p:sp>
        <p:nvSpPr>
          <p:cNvPr id="3" name="内容占位符 2"/>
          <p:cNvSpPr>
            <a:spLocks noGrp="1"/>
          </p:cNvSpPr>
          <p:nvPr>
            <p:ph idx="1"/>
          </p:nvPr>
        </p:nvSpPr>
        <p:spPr>
          <a:xfrm>
            <a:off x="838200" y="1825625"/>
            <a:ext cx="10515600" cy="2787650"/>
          </a:xfrm>
        </p:spPr>
        <p:txBody>
          <a:bodyPr/>
          <a:lstStyle/>
          <a:p>
            <a:pPr marL="514350" indent="-514350">
              <a:buFont typeface="Arial" panose="020B0604020202020204" pitchFamily="34" charset="0"/>
              <a:buAutoNum type="arabicPeriod"/>
            </a:pPr>
            <a:r>
              <a:rPr lang="en-US" altLang="zh-CN" dirty="0" err="1"/>
              <a:t>EEGConformer</a:t>
            </a:r>
            <a:r>
              <a:rPr lang="zh-CN" altLang="en-US" dirty="0"/>
              <a:t>经调参，在低参数的情况下比</a:t>
            </a:r>
            <a:r>
              <a:rPr lang="en-US" altLang="zh-CN" dirty="0" err="1"/>
              <a:t>EEGNet</a:t>
            </a:r>
            <a:r>
              <a:rPr lang="zh-CN" altLang="en-US" dirty="0"/>
              <a:t>准确率高出</a:t>
            </a:r>
            <a:r>
              <a:rPr lang="en-US" altLang="zh-CN" dirty="0"/>
              <a:t>5%</a:t>
            </a:r>
            <a:r>
              <a:rPr lang="zh-CN" altLang="en-US" dirty="0"/>
              <a:t>左右，但总体而言两者相差不大，</a:t>
            </a:r>
            <a:r>
              <a:rPr lang="en-US" altLang="zh-CN" dirty="0" err="1"/>
              <a:t>EEGConformer</a:t>
            </a:r>
            <a:r>
              <a:rPr lang="zh-CN" altLang="en-US" dirty="0"/>
              <a:t>略胜一筹。</a:t>
            </a:r>
            <a:r>
              <a:rPr lang="en-US" altLang="zh-CN" dirty="0" err="1"/>
              <a:t>EEGConformer</a:t>
            </a:r>
            <a:r>
              <a:rPr lang="zh-CN" altLang="en-US" dirty="0"/>
              <a:t>在</a:t>
            </a:r>
            <a:r>
              <a:rPr lang="en-US" altLang="zh-CN" dirty="0"/>
              <a:t>75%</a:t>
            </a:r>
            <a:r>
              <a:rPr lang="zh-CN" altLang="en-US" dirty="0"/>
              <a:t>左右，</a:t>
            </a:r>
            <a:r>
              <a:rPr lang="en-US" altLang="zh-CN" dirty="0" err="1"/>
              <a:t>EEGNet</a:t>
            </a:r>
            <a:r>
              <a:rPr lang="zh-CN" altLang="en-US" dirty="0"/>
              <a:t>在</a:t>
            </a:r>
            <a:r>
              <a:rPr lang="en-US" altLang="zh-CN" dirty="0"/>
              <a:t>70%</a:t>
            </a:r>
            <a:r>
              <a:rPr lang="zh-CN" altLang="en-US" dirty="0"/>
              <a:t>左右</a:t>
            </a:r>
            <a:endParaRPr lang="en-US" altLang="zh-CN" dirty="0"/>
          </a:p>
          <a:p>
            <a:pPr marL="514350" indent="-514350">
              <a:buAutoNum type="arabicPeriod"/>
            </a:pPr>
            <a:r>
              <a:rPr lang="en-US" altLang="zh-CN" dirty="0" err="1"/>
              <a:t>EEGConformer</a:t>
            </a:r>
            <a:r>
              <a:rPr lang="zh-CN" altLang="en-US" dirty="0"/>
              <a:t>收敛速度远快于</a:t>
            </a:r>
            <a:r>
              <a:rPr lang="en-US" altLang="zh-CN" dirty="0" err="1"/>
              <a:t>EEGNet</a:t>
            </a:r>
            <a:r>
              <a:rPr lang="zh-CN" altLang="en-US" dirty="0"/>
              <a:t>，约</a:t>
            </a:r>
            <a:r>
              <a:rPr lang="en-US" altLang="zh-CN" dirty="0"/>
              <a:t>60</a:t>
            </a:r>
            <a:r>
              <a:rPr lang="zh-CN" altLang="en-US" dirty="0"/>
              <a:t>个</a:t>
            </a:r>
            <a:r>
              <a:rPr lang="en-US" altLang="zh-CN" dirty="0"/>
              <a:t>epoch</a:t>
            </a:r>
            <a:r>
              <a:rPr lang="zh-CN" altLang="en-US" dirty="0"/>
              <a:t>就已经收敛。</a:t>
            </a:r>
            <a:endParaRPr lang="en-US" altLang="zh-CN" dirty="0"/>
          </a:p>
          <a:p>
            <a:pPr marL="514350" indent="-514350">
              <a:buAutoNum type="arabicPeriod"/>
            </a:pPr>
            <a:r>
              <a:rPr lang="zh-CN" altLang="en-US" dirty="0"/>
              <a:t>两个模型的过拟合现象均很严重。</a:t>
            </a:r>
            <a:endParaRPr lang="en-US" altLang="zh-CN" dirty="0"/>
          </a:p>
        </p:txBody>
      </p:sp>
      <p:sp>
        <p:nvSpPr>
          <p:cNvPr id="4" name="文本框 3"/>
          <p:cNvSpPr txBox="1"/>
          <p:nvPr/>
        </p:nvSpPr>
        <p:spPr>
          <a:xfrm>
            <a:off x="838200" y="4699635"/>
            <a:ext cx="8478520" cy="368300"/>
          </a:xfrm>
          <a:prstGeom prst="rect">
            <a:avLst/>
          </a:prstGeom>
          <a:noFill/>
        </p:spPr>
        <p:txBody>
          <a:bodyPr wrap="square" rtlCol="0">
            <a:spAutoFit/>
          </a:bodyPr>
          <a:p>
            <a:r>
              <a:rPr lang="en-US" altLang="zh-CN"/>
              <a:t>EEGNet</a:t>
            </a:r>
            <a:r>
              <a:rPr lang="zh-CN" altLang="en-US"/>
              <a:t>：</a:t>
            </a:r>
            <a:r>
              <a:rPr lang="en-US" altLang="zh-CN"/>
              <a:t>Chans=64, Samples=128, F1=8, D=2, F2=16</a:t>
            </a:r>
            <a:r>
              <a:rPr lang="zh-CN" altLang="en-US"/>
              <a:t>，可学习参数量：</a:t>
            </a:r>
            <a:r>
              <a:rPr lang="en-US" altLang="zh-CN"/>
              <a:t>2258</a:t>
            </a:r>
            <a:endParaRPr lang="en-US" altLang="zh-CN"/>
          </a:p>
        </p:txBody>
      </p:sp>
      <p:sp>
        <p:nvSpPr>
          <p:cNvPr id="5" name="文本框 4"/>
          <p:cNvSpPr txBox="1"/>
          <p:nvPr/>
        </p:nvSpPr>
        <p:spPr>
          <a:xfrm>
            <a:off x="895350" y="5288915"/>
            <a:ext cx="9912350" cy="368300"/>
          </a:xfrm>
          <a:prstGeom prst="rect">
            <a:avLst/>
          </a:prstGeom>
          <a:noFill/>
        </p:spPr>
        <p:txBody>
          <a:bodyPr wrap="square" rtlCol="0">
            <a:spAutoFit/>
          </a:bodyPr>
          <a:p>
            <a:r>
              <a:rPr lang="en-US" altLang="zh-CN"/>
              <a:t>EEGConformer</a:t>
            </a:r>
            <a:r>
              <a:rPr lang="zh-CN" altLang="en-US"/>
              <a:t>：</a:t>
            </a:r>
            <a:r>
              <a:rPr lang="en-US" altLang="zh-CN"/>
              <a:t>Chans=64, Samples=128, F1=8, D=2, F2=16</a:t>
            </a:r>
            <a:r>
              <a:rPr lang="zh-CN" altLang="en-US"/>
              <a:t>，可学习参数量：</a:t>
            </a:r>
            <a:r>
              <a:rPr lang="en-US" altLang="zh-CN"/>
              <a:t>1,345,106</a:t>
            </a:r>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754684"/>
          </a:xfrm>
        </p:spPr>
        <p:txBody>
          <a:bodyPr/>
          <a:lstStyle/>
          <a:p>
            <a:r>
              <a:rPr lang="zh-CN" altLang="en-US" dirty="0"/>
              <a:t>简单分析与改进方向</a:t>
            </a:r>
            <a:endParaRPr lang="en-US" dirty="0"/>
          </a:p>
        </p:txBody>
      </p:sp>
      <p:sp>
        <p:nvSpPr>
          <p:cNvPr id="3" name="内容占位符 2"/>
          <p:cNvSpPr>
            <a:spLocks noGrp="1"/>
          </p:cNvSpPr>
          <p:nvPr>
            <p:ph idx="1"/>
          </p:nvPr>
        </p:nvSpPr>
        <p:spPr>
          <a:xfrm>
            <a:off x="838200" y="1302164"/>
            <a:ext cx="10515600" cy="4351338"/>
          </a:xfrm>
        </p:spPr>
        <p:txBody>
          <a:bodyPr/>
          <a:lstStyle/>
          <a:p>
            <a:r>
              <a:rPr lang="zh-CN" altLang="en-US" dirty="0"/>
              <a:t>非侵入式脑机接口获取的</a:t>
            </a:r>
            <a:r>
              <a:rPr lang="en-US" altLang="zh-CN" dirty="0"/>
              <a:t>EEG</a:t>
            </a:r>
            <a:r>
              <a:rPr lang="zh-CN" altLang="en-US" dirty="0"/>
              <a:t>信号有噪声多的特点</a:t>
            </a:r>
            <a:endParaRPr lang="en-US" altLang="zh-CN" dirty="0"/>
          </a:p>
          <a:p>
            <a:r>
              <a:rPr lang="zh-CN" altLang="en-US" dirty="0"/>
              <a:t>因此通过深度学习的方法很容易学习到训练集的噪声特征，导致测试集上精度低，跨被试泛化性一定更弱。</a:t>
            </a:r>
            <a:endParaRPr lang="en-US" altLang="zh-CN" dirty="0"/>
          </a:p>
          <a:p>
            <a:r>
              <a:rPr lang="zh-CN" altLang="en-US" dirty="0"/>
              <a:t>假设任何正常人类做出某个动作产生的</a:t>
            </a:r>
            <a:r>
              <a:rPr lang="en-US" altLang="zh-CN" dirty="0"/>
              <a:t>EEG</a:t>
            </a:r>
            <a:r>
              <a:rPr lang="zh-CN" altLang="en-US" dirty="0"/>
              <a:t>信号有高度相似之处，那么我们可以通过提高训练数据量，并且利用多个被试的数据进行训练，从而让模型学习到核心特征并自行排除噪声的干扰。</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改进</a:t>
            </a:r>
            <a:endParaRPr lang="en-US" dirty="0"/>
          </a:p>
        </p:txBody>
      </p:sp>
      <p:sp>
        <p:nvSpPr>
          <p:cNvPr id="3" name="内容占位符 2"/>
          <p:cNvSpPr>
            <a:spLocks noGrp="1"/>
          </p:cNvSpPr>
          <p:nvPr>
            <p:ph idx="1"/>
          </p:nvPr>
        </p:nvSpPr>
        <p:spPr/>
        <p:txBody>
          <a:bodyPr/>
          <a:lstStyle/>
          <a:p>
            <a:r>
              <a:rPr lang="zh-CN" altLang="en-US" dirty="0"/>
              <a:t>修改了原论文代码中数据读取与训练的架构</a:t>
            </a:r>
            <a:endParaRPr lang="en-US" altLang="zh-CN" dirty="0"/>
          </a:p>
          <a:p>
            <a:r>
              <a:rPr lang="zh-CN" altLang="en-US" dirty="0"/>
              <a:t>原架构只支持单被试数据预训练</a:t>
            </a:r>
            <a:r>
              <a:rPr lang="en-US" altLang="zh-CN" dirty="0"/>
              <a:t>+</a:t>
            </a:r>
            <a:r>
              <a:rPr lang="zh-CN" altLang="en-US" dirty="0"/>
              <a:t>微调，修改后支持多被试数据预训练</a:t>
            </a:r>
            <a:r>
              <a:rPr lang="en-US" altLang="zh-CN" dirty="0"/>
              <a:t>+</a:t>
            </a:r>
            <a:r>
              <a:rPr lang="zh-CN" altLang="en-US" dirty="0"/>
              <a:t>加跨被试微调。</a:t>
            </a:r>
            <a:endParaRPr lang="en-US" dirty="0"/>
          </a:p>
          <a:p>
            <a:r>
              <a:rPr lang="zh-CN" altLang="en-US" dirty="0"/>
              <a:t>例：</a:t>
            </a:r>
            <a:r>
              <a:rPr lang="en-US" b="0" dirty="0">
                <a:solidFill>
                  <a:srgbClr val="D4D4D4"/>
                </a:solidFill>
                <a:effectLst/>
                <a:latin typeface="Consolas" panose="020B0609020204030204" pitchFamily="49" charset="0"/>
              </a:rPr>
              <a:t>python main_multi_subject_training.py </a:t>
            </a:r>
            <a:r>
              <a:rPr lang="en-US" b="0" dirty="0">
                <a:solidFill>
                  <a:srgbClr val="CE9178"/>
                </a:solidFill>
                <a:effectLst/>
                <a:latin typeface="Consolas" panose="020B0609020204030204" pitchFamily="49" charset="0"/>
              </a:rPr>
              <a:t>"1,2,3,4,5"</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2</a:t>
            </a:r>
            <a:r>
              <a:rPr lang="en-US" b="0" dirty="0">
                <a:solidFill>
                  <a:srgbClr val="D4D4D4"/>
                </a:solidFill>
                <a:effectLst/>
                <a:latin typeface="Consolas" panose="020B0609020204030204" pitchFamily="49" charset="0"/>
              </a:rPr>
              <a:t> ME </a:t>
            </a:r>
            <a:r>
              <a:rPr lang="en-US" b="0" dirty="0" err="1">
                <a:solidFill>
                  <a:srgbClr val="D4D4D4"/>
                </a:solidFill>
                <a:effectLst/>
                <a:latin typeface="Consolas" panose="020B0609020204030204" pitchFamily="49" charset="0"/>
              </a:rPr>
              <a:t>Orig</a:t>
            </a:r>
            <a:r>
              <a:rPr lang="en-US" b="0" dirty="0">
                <a:solidFill>
                  <a:srgbClr val="D4D4D4"/>
                </a:solidFill>
                <a:effectLst/>
                <a:latin typeface="Consolas" panose="020B0609020204030204" pitchFamily="49" charset="0"/>
              </a:rPr>
              <a:t> </a:t>
            </a:r>
            <a:r>
              <a:rPr lang="en-US" b="0" dirty="0" err="1">
                <a:solidFill>
                  <a:srgbClr val="D4D4D4"/>
                </a:solidFill>
                <a:effectLst/>
                <a:latin typeface="Consolas" panose="020B0609020204030204" pitchFamily="49" charset="0"/>
              </a:rPr>
              <a:t>EEGConformer</a:t>
            </a:r>
            <a:endParaRPr lang="en-US" b="0" dirty="0">
              <a:solidFill>
                <a:srgbClr val="D4D4D4"/>
              </a:solidFill>
              <a:effectLst/>
              <a:latin typeface="Consolas" panose="020B0609020204030204" pitchFamily="49" charset="0"/>
            </a:endParaRPr>
          </a:p>
          <a:p>
            <a:pPr marL="0" indent="0">
              <a:buNone/>
            </a:pPr>
            <a:r>
              <a:rPr lang="zh-CN" altLang="en-US" dirty="0"/>
              <a:t>可读取</a:t>
            </a: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4</a:t>
            </a:r>
            <a:r>
              <a:rPr lang="zh-CN" altLang="en-US" dirty="0"/>
              <a:t>，</a:t>
            </a:r>
            <a:r>
              <a:rPr lang="en-US" altLang="zh-CN" dirty="0"/>
              <a:t>5</a:t>
            </a:r>
            <a:r>
              <a:rPr lang="zh-CN" altLang="en-US" dirty="0"/>
              <a:t>号被试的数据进行预训练</a:t>
            </a:r>
            <a:endParaRPr lang="en-US" altLang="zh-CN" dirty="0"/>
          </a:p>
          <a:p>
            <a:pPr marL="0" indent="0">
              <a:buNone/>
            </a:pPr>
            <a:r>
              <a:rPr lang="en-US" b="0" dirty="0">
                <a:solidFill>
                  <a:srgbClr val="D4D4D4"/>
                </a:solidFill>
                <a:effectLst/>
                <a:latin typeface="Consolas" panose="020B0609020204030204" pitchFamily="49" charset="0"/>
              </a:rPr>
              <a:t>python main_multi_subject_training.py </a:t>
            </a:r>
            <a:r>
              <a:rPr lang="en-US" b="0" dirty="0">
                <a:solidFill>
                  <a:srgbClr val="CE9178"/>
                </a:solidFill>
                <a:effectLst/>
                <a:latin typeface="Consolas" panose="020B0609020204030204" pitchFamily="49" charset="0"/>
              </a:rPr>
              <a:t>20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2</a:t>
            </a:r>
            <a:r>
              <a:rPr lang="en-US" b="0" dirty="0">
                <a:solidFill>
                  <a:srgbClr val="D4D4D4"/>
                </a:solidFill>
                <a:effectLst/>
                <a:latin typeface="Consolas" panose="020B0609020204030204" pitchFamily="49" charset="0"/>
              </a:rPr>
              <a:t> ME </a:t>
            </a:r>
            <a:r>
              <a:rPr lang="en-US" altLang="zh-CN" b="0" dirty="0">
                <a:solidFill>
                  <a:srgbClr val="D4D4D4"/>
                </a:solidFill>
                <a:effectLst/>
                <a:latin typeface="Consolas" panose="020B0609020204030204" pitchFamily="49" charset="0"/>
              </a:rPr>
              <a:t>Finetune</a:t>
            </a:r>
            <a:r>
              <a:rPr lang="en-US" b="0" dirty="0">
                <a:solidFill>
                  <a:srgbClr val="D4D4D4"/>
                </a:solidFill>
                <a:effectLst/>
                <a:latin typeface="Consolas" panose="020B0609020204030204" pitchFamily="49" charset="0"/>
              </a:rPr>
              <a:t> </a:t>
            </a:r>
            <a:r>
              <a:rPr lang="en-US" b="0" dirty="0" err="1">
                <a:solidFill>
                  <a:srgbClr val="D4D4D4"/>
                </a:solidFill>
                <a:effectLst/>
                <a:latin typeface="Consolas" panose="020B0609020204030204" pitchFamily="49" charset="0"/>
              </a:rPr>
              <a:t>EEGConformer</a:t>
            </a:r>
            <a:endParaRPr lang="en-US" b="0" dirty="0">
              <a:solidFill>
                <a:srgbClr val="D4D4D4"/>
              </a:solidFill>
              <a:effectLst/>
              <a:latin typeface="Consolas" panose="020B0609020204030204" pitchFamily="49" charset="0"/>
            </a:endParaRPr>
          </a:p>
          <a:p>
            <a:pPr marL="0" indent="0">
              <a:buNone/>
            </a:pPr>
            <a:r>
              <a:rPr lang="zh-CN" altLang="en-US" dirty="0"/>
              <a:t>可在上面预训练的基础上对</a:t>
            </a:r>
            <a:r>
              <a:rPr lang="en-US" altLang="zh-CN" dirty="0"/>
              <a:t>20</a:t>
            </a:r>
            <a:r>
              <a:rPr lang="zh-CN" altLang="en-US" dirty="0"/>
              <a:t>号被试进行微调</a:t>
            </a:r>
            <a:endParaRPr lang="en-US" altLang="zh-CN" dirty="0"/>
          </a:p>
          <a:p>
            <a:pPr marL="0" indent="0">
              <a:buNone/>
            </a:pPr>
            <a:endParaRPr lang="en-US" b="0" dirty="0">
              <a:solidFill>
                <a:srgbClr val="D4D4D4"/>
              </a:solidFill>
              <a:effectLst/>
              <a:latin typeface="Consolas" panose="020B0609020204030204" pitchFamily="49" charset="0"/>
            </a:endParaRPr>
          </a:p>
          <a:p>
            <a:pPr marL="0" indent="0">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483014"/>
          </a:xfrm>
        </p:spPr>
        <p:txBody>
          <a:bodyPr>
            <a:normAutofit fontScale="90000"/>
          </a:bodyPr>
          <a:lstStyle/>
          <a:p>
            <a:r>
              <a:rPr lang="zh-CN" altLang="en-US" dirty="0"/>
              <a:t>实验</a:t>
            </a:r>
            <a:endParaRPr lang="en-US"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095998" y="1825483"/>
            <a:ext cx="5486410" cy="2286004"/>
          </a:xfrm>
          <a:prstGeom prst="rect">
            <a:avLst/>
          </a:prstGeom>
        </p:spPr>
      </p:pic>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5998" y="4373212"/>
            <a:ext cx="5486411" cy="2286005"/>
          </a:xfrm>
          <a:prstGeom prst="rect">
            <a:avLst/>
          </a:prstGeom>
        </p:spPr>
      </p:pic>
      <p:sp>
        <p:nvSpPr>
          <p:cNvPr id="8" name="文本框 7"/>
          <p:cNvSpPr txBox="1"/>
          <p:nvPr/>
        </p:nvSpPr>
        <p:spPr>
          <a:xfrm>
            <a:off x="7998459" y="1020347"/>
            <a:ext cx="1681486" cy="369332"/>
          </a:xfrm>
          <a:prstGeom prst="rect">
            <a:avLst/>
          </a:prstGeom>
          <a:noFill/>
        </p:spPr>
        <p:txBody>
          <a:bodyPr wrap="none" rtlCol="0">
            <a:spAutoFit/>
          </a:bodyPr>
          <a:lstStyle/>
          <a:p>
            <a:r>
              <a:rPr lang="en-US" altLang="zh-CN" dirty="0" err="1"/>
              <a:t>EEGConformer</a:t>
            </a:r>
            <a:endParaRPr lang="en-US" dirty="0"/>
          </a:p>
        </p:txBody>
      </p:sp>
      <p:sp>
        <p:nvSpPr>
          <p:cNvPr id="9" name="文本框 8"/>
          <p:cNvSpPr txBox="1"/>
          <p:nvPr/>
        </p:nvSpPr>
        <p:spPr>
          <a:xfrm>
            <a:off x="4911217" y="1456151"/>
            <a:ext cx="2170787" cy="369332"/>
          </a:xfrm>
          <a:prstGeom prst="rect">
            <a:avLst/>
          </a:prstGeom>
          <a:noFill/>
        </p:spPr>
        <p:txBody>
          <a:bodyPr wrap="none" rtlCol="0">
            <a:spAutoFit/>
          </a:bodyPr>
          <a:lstStyle/>
          <a:p>
            <a:r>
              <a:rPr lang="en-US" dirty="0"/>
              <a:t>1</a:t>
            </a:r>
            <a:r>
              <a:rPr lang="zh-CN" altLang="en-US" dirty="0"/>
              <a:t>，</a:t>
            </a:r>
            <a:r>
              <a:rPr lang="en-US" altLang="zh-CN" dirty="0"/>
              <a:t>2</a:t>
            </a:r>
            <a:r>
              <a:rPr lang="zh-CN" altLang="en-US" dirty="0"/>
              <a:t>，</a:t>
            </a:r>
            <a:r>
              <a:rPr lang="en-US" altLang="zh-CN" dirty="0"/>
              <a:t>5</a:t>
            </a:r>
            <a:r>
              <a:rPr lang="zh-CN" altLang="en-US" dirty="0"/>
              <a:t>被试预训练</a:t>
            </a:r>
            <a:endParaRPr lang="en-US" dirty="0"/>
          </a:p>
        </p:txBody>
      </p:sp>
      <p:sp>
        <p:nvSpPr>
          <p:cNvPr id="10" name="文本框 9"/>
          <p:cNvSpPr txBox="1"/>
          <p:nvPr/>
        </p:nvSpPr>
        <p:spPr>
          <a:xfrm>
            <a:off x="4694813" y="4057684"/>
            <a:ext cx="2802370" cy="369332"/>
          </a:xfrm>
          <a:prstGeom prst="rect">
            <a:avLst/>
          </a:prstGeom>
          <a:noFill/>
        </p:spPr>
        <p:txBody>
          <a:bodyPr wrap="none" rtlCol="0">
            <a:spAutoFit/>
          </a:bodyPr>
          <a:lstStyle/>
          <a:p>
            <a:r>
              <a:rPr lang="zh-CN" altLang="en-US" dirty="0"/>
              <a:t>预训练模型对</a:t>
            </a:r>
            <a:r>
              <a:rPr lang="en-US" altLang="zh-CN" dirty="0"/>
              <a:t>20</a:t>
            </a:r>
            <a:r>
              <a:rPr lang="zh-CN" altLang="en-US" dirty="0"/>
              <a:t>被试微调</a:t>
            </a:r>
            <a:endParaRPr lang="en-US" dirty="0"/>
          </a:p>
        </p:txBody>
      </p: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024" y="1825483"/>
            <a:ext cx="5486409" cy="2286004"/>
          </a:xfrm>
          <a:prstGeom prst="rect">
            <a:avLst/>
          </a:prstGeom>
        </p:spPr>
      </p:pic>
      <p:pic>
        <p:nvPicPr>
          <p:cNvPr id="14" name="图片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2022" y="4373212"/>
            <a:ext cx="5486411" cy="2286005"/>
          </a:xfrm>
          <a:prstGeom prst="rect">
            <a:avLst/>
          </a:prstGeom>
        </p:spPr>
      </p:pic>
      <p:sp>
        <p:nvSpPr>
          <p:cNvPr id="15" name="文本框 14"/>
          <p:cNvSpPr txBox="1"/>
          <p:nvPr/>
        </p:nvSpPr>
        <p:spPr>
          <a:xfrm>
            <a:off x="2512055" y="1085700"/>
            <a:ext cx="963084" cy="369332"/>
          </a:xfrm>
          <a:prstGeom prst="rect">
            <a:avLst/>
          </a:prstGeom>
          <a:noFill/>
        </p:spPr>
        <p:txBody>
          <a:bodyPr wrap="none" rtlCol="0">
            <a:spAutoFit/>
          </a:bodyPr>
          <a:lstStyle/>
          <a:p>
            <a:r>
              <a:rPr lang="en-US" altLang="zh-CN" dirty="0" err="1"/>
              <a:t>EEGNet</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简单总结</a:t>
            </a:r>
            <a:endParaRPr lang="en-US" dirty="0"/>
          </a:p>
        </p:txBody>
      </p:sp>
      <p:sp>
        <p:nvSpPr>
          <p:cNvPr id="3" name="内容占位符 2"/>
          <p:cNvSpPr>
            <a:spLocks noGrp="1"/>
          </p:cNvSpPr>
          <p:nvPr>
            <p:ph idx="1"/>
          </p:nvPr>
        </p:nvSpPr>
        <p:spPr/>
        <p:txBody>
          <a:bodyPr/>
          <a:lstStyle/>
          <a:p>
            <a:pPr marL="514350" indent="-514350">
              <a:buAutoNum type="arabicPeriod"/>
            </a:pPr>
            <a:r>
              <a:rPr lang="zh-CN" altLang="en-US" dirty="0"/>
              <a:t>多被试预训练方法在两个模型上都出现了极大的改进，</a:t>
            </a:r>
            <a:r>
              <a:rPr lang="en-US" altLang="zh-CN" dirty="0" err="1"/>
              <a:t>EEGNet</a:t>
            </a:r>
            <a:r>
              <a:rPr lang="zh-CN" altLang="en-US" dirty="0"/>
              <a:t>上改进超</a:t>
            </a:r>
            <a:r>
              <a:rPr lang="en-US" altLang="zh-CN" dirty="0"/>
              <a:t>10%</a:t>
            </a:r>
            <a:r>
              <a:rPr lang="zh-CN" altLang="en-US" dirty="0"/>
              <a:t>，</a:t>
            </a:r>
            <a:r>
              <a:rPr lang="en-US" altLang="zh-CN" dirty="0" err="1"/>
              <a:t>EEGConformer</a:t>
            </a:r>
            <a:r>
              <a:rPr lang="zh-CN" altLang="en-US" dirty="0"/>
              <a:t>上改进超</a:t>
            </a:r>
            <a:r>
              <a:rPr lang="en-US" altLang="zh-CN" dirty="0"/>
              <a:t>15%</a:t>
            </a:r>
            <a:endParaRPr lang="en-US" altLang="zh-CN" dirty="0"/>
          </a:p>
          <a:p>
            <a:pPr marL="514350" indent="-514350">
              <a:buAutoNum type="arabicPeriod"/>
            </a:pPr>
            <a:r>
              <a:rPr lang="en-US" altLang="zh-CN" dirty="0" err="1"/>
              <a:t>EEGConformer</a:t>
            </a:r>
            <a:r>
              <a:rPr lang="zh-CN" altLang="en-US" dirty="0"/>
              <a:t>在大训练集上有极其优秀的表现，在</a:t>
            </a:r>
            <a:r>
              <a:rPr lang="en-US" altLang="zh-CN" dirty="0"/>
              <a:t>20</a:t>
            </a:r>
            <a:r>
              <a:rPr lang="zh-CN" altLang="en-US" dirty="0"/>
              <a:t>个</a:t>
            </a:r>
            <a:r>
              <a:rPr lang="en-US" altLang="zh-CN" dirty="0"/>
              <a:t>epoch</a:t>
            </a:r>
            <a:r>
              <a:rPr lang="zh-CN" altLang="en-US" dirty="0"/>
              <a:t>后就已经开始收敛，且准确率逼近</a:t>
            </a:r>
            <a:r>
              <a:rPr lang="en-US" altLang="zh-CN" dirty="0"/>
              <a:t>90%</a:t>
            </a:r>
            <a:r>
              <a:rPr lang="zh-CN" altLang="en-US" dirty="0"/>
              <a:t>，（部分实验能超过</a:t>
            </a:r>
            <a:r>
              <a:rPr lang="en-US" altLang="zh-CN" dirty="0"/>
              <a:t>90%</a:t>
            </a:r>
            <a:r>
              <a:rPr lang="zh-CN" altLang="en-US" dirty="0"/>
              <a:t>）</a:t>
            </a:r>
            <a:endParaRPr lang="en-US" altLang="zh-CN" dirty="0"/>
          </a:p>
          <a:p>
            <a:pPr marL="514350" indent="-514350">
              <a:buAutoNum type="arabicPeriod"/>
            </a:pPr>
            <a:r>
              <a:rPr lang="zh-CN" altLang="en-US" dirty="0"/>
              <a:t>二者在跨被试微调中，面对从没见过的新被试的数据表现甚至与原先单被试预训练微调的水平相当</a:t>
            </a:r>
            <a:endParaRPr lang="en-US" altLang="zh-CN" dirty="0"/>
          </a:p>
          <a:p>
            <a:pPr marL="514350" indent="-514350">
              <a:buAutoNum type="arabicPeriod"/>
            </a:pPr>
            <a:r>
              <a:rPr lang="zh-CN" altLang="en-US" dirty="0"/>
              <a:t>过拟合现象得到了一定缓解。</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改进与展望</a:t>
            </a:r>
            <a:endParaRPr lang="en-US" dirty="0"/>
          </a:p>
        </p:txBody>
      </p:sp>
      <p:sp>
        <p:nvSpPr>
          <p:cNvPr id="3" name="内容占位符 2"/>
          <p:cNvSpPr>
            <a:spLocks noGrp="1"/>
          </p:cNvSpPr>
          <p:nvPr>
            <p:ph idx="1"/>
          </p:nvPr>
        </p:nvSpPr>
        <p:spPr/>
        <p:txBody>
          <a:bodyPr>
            <a:normAutofit fontScale="90000"/>
          </a:bodyPr>
          <a:lstStyle/>
          <a:p>
            <a:pPr marL="514350" indent="-514350">
              <a:lnSpc>
                <a:spcPct val="110000"/>
              </a:lnSpc>
              <a:buAutoNum type="arabicPeriod"/>
            </a:pPr>
            <a:r>
              <a:rPr lang="zh-CN" altLang="en-US" dirty="0"/>
              <a:t>目前采用</a:t>
            </a:r>
            <a:r>
              <a:rPr lang="en-US" altLang="zh-CN" dirty="0"/>
              <a:t>3</a:t>
            </a:r>
            <a:r>
              <a:rPr lang="zh-CN" altLang="en-US" dirty="0"/>
              <a:t>被试的数据进行预训练，已经达到不错的效果，但是受限于服务器存储不足，无法容纳更多被试数据，所以暂时只能采用</a:t>
            </a:r>
            <a:r>
              <a:rPr lang="en-US" altLang="zh-CN" dirty="0"/>
              <a:t>3</a:t>
            </a:r>
            <a:r>
              <a:rPr lang="zh-CN" altLang="en-US" dirty="0"/>
              <a:t>被试。后续会尝试增加被试，观察数据量与最终精度的关系</a:t>
            </a:r>
            <a:endParaRPr lang="zh-CN" altLang="en-US" dirty="0"/>
          </a:p>
          <a:p>
            <a:pPr marL="514350" indent="-514350">
              <a:lnSpc>
                <a:spcPct val="110000"/>
              </a:lnSpc>
              <a:buAutoNum type="arabicPeriod"/>
            </a:pPr>
            <a:r>
              <a:rPr lang="en-US" altLang="zh-CN" dirty="0"/>
              <a:t>EEGConformer</a:t>
            </a:r>
            <a:r>
              <a:rPr lang="zh-CN" altLang="en-US" dirty="0"/>
              <a:t>的参数量与</a:t>
            </a:r>
            <a:r>
              <a:rPr lang="en-US" altLang="zh-CN" dirty="0"/>
              <a:t>EEGNet</a:t>
            </a:r>
            <a:r>
              <a:rPr lang="zh-CN" altLang="en-US" dirty="0"/>
              <a:t>相比过大，可通过实验看看参数量对该模型在该分类问题上的影响。</a:t>
            </a:r>
            <a:endParaRPr lang="en-US" altLang="zh-CN" dirty="0"/>
          </a:p>
          <a:p>
            <a:pPr marL="514350" indent="-514350">
              <a:lnSpc>
                <a:spcPct val="110000"/>
              </a:lnSpc>
              <a:buAutoNum type="arabicPeriod"/>
            </a:pPr>
            <a:r>
              <a:rPr lang="zh-CN" altLang="en-US" dirty="0"/>
              <a:t>跨被试微调得到的精度仍有提升空间，说明模型还没有真正完整学习到目标特征，在跨被试上的泛化性还需提升。</a:t>
            </a:r>
            <a:endParaRPr lang="en-US" altLang="zh-CN" dirty="0"/>
          </a:p>
          <a:p>
            <a:pPr marL="514350" indent="-514350">
              <a:lnSpc>
                <a:spcPct val="110000"/>
              </a:lnSpc>
              <a:buAutoNum type="arabicPeriod"/>
            </a:pPr>
            <a:r>
              <a:rPr lang="zh-CN" altLang="en-US" dirty="0"/>
              <a:t>整个实验除了</a:t>
            </a:r>
            <a:r>
              <a:rPr lang="en-US" altLang="zh-CN" dirty="0" err="1"/>
              <a:t>EEGConformer</a:t>
            </a:r>
            <a:r>
              <a:rPr lang="zh-CN" altLang="en-US" dirty="0"/>
              <a:t>以外，没有经过任何文献调研，后续可以对目前正在进行的实验内容进行一轮文献调研</a:t>
            </a:r>
            <a:endParaRPr lang="en-US" altLang="zh-CN"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2196</Words>
  <Application>WPS 演示</Application>
  <PresentationFormat>宽屏</PresentationFormat>
  <Paragraphs>97</Paragraphs>
  <Slides>13</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13</vt:i4>
      </vt:variant>
    </vt:vector>
  </HeadingPairs>
  <TitlesOfParts>
    <vt:vector size="27" baseType="lpstr">
      <vt:lpstr>Arial</vt:lpstr>
      <vt:lpstr>宋体</vt:lpstr>
      <vt:lpstr>Wingdings</vt:lpstr>
      <vt:lpstr>Consolas</vt:lpstr>
      <vt:lpstr>等线 Light</vt:lpstr>
      <vt:lpstr>Aptos Display</vt:lpstr>
      <vt:lpstr>Segoe UI Variable Display</vt:lpstr>
      <vt:lpstr>微软雅黑</vt:lpstr>
      <vt:lpstr>Arial Unicode MS</vt:lpstr>
      <vt:lpstr>等线</vt:lpstr>
      <vt:lpstr>Aptos</vt:lpstr>
      <vt:lpstr>Segoe UI</vt:lpstr>
      <vt:lpstr>Calibri</vt:lpstr>
      <vt:lpstr>Office 主题​​</vt:lpstr>
      <vt:lpstr>脑机解码进度汇报</vt:lpstr>
      <vt:lpstr>遗留问题</vt:lpstr>
      <vt:lpstr>PowerPoint 演示文稿</vt:lpstr>
      <vt:lpstr>问题结论与解决方向</vt:lpstr>
      <vt:lpstr>EEGConformer</vt:lpstr>
      <vt:lpstr>我的调整</vt:lpstr>
      <vt:lpstr>实验对比：</vt:lpstr>
      <vt:lpstr>简单总结</vt:lpstr>
      <vt:lpstr>简单分析与改进方向</vt:lpstr>
      <vt:lpstr>改进</vt:lpstr>
      <vt:lpstr>实验</vt:lpstr>
      <vt:lpstr>简单总结</vt:lpstr>
      <vt:lpstr>改进与展望</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一 刘</dc:creator>
  <cp:lastModifiedBy>World</cp:lastModifiedBy>
  <cp:revision>4</cp:revision>
  <dcterms:created xsi:type="dcterms:W3CDTF">2026-09-01T09:06:00Z</dcterms:created>
  <dcterms:modified xsi:type="dcterms:W3CDTF">2026-09-18T15:23:31Z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56DC908BCC7840169623ED71D1AAF191_12</vt:lpwstr>
  </property>
</Properties>
</file>